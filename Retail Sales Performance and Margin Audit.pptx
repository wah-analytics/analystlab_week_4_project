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Poppins SemiBol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PoppinsSemiBold-bold.fntdata"/><Relationship Id="rId23" Type="http://schemas.openxmlformats.org/officeDocument/2006/relationships/font" Target="fonts/Poppins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oppinsSemiBold-boldItalic.fntdata"/><Relationship Id="rId25" Type="http://schemas.openxmlformats.org/officeDocument/2006/relationships/font" Target="fonts/PoppinsSemiBold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Poppins-regular.fntdata"/><Relationship Id="rId14" Type="http://schemas.openxmlformats.org/officeDocument/2006/relationships/slide" Target="slides/slide8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19" Type="http://schemas.openxmlformats.org/officeDocument/2006/relationships/font" Target="fonts/Lato-regular.fntdata"/><Relationship Id="rId18" Type="http://schemas.openxmlformats.org/officeDocument/2006/relationships/font" Target="fonts/Poppi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fc508e64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efc508e647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9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58454"/>
            <a:ext cx="323850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/>
          <p:nvPr/>
        </p:nvSpPr>
        <p:spPr>
          <a:xfrm>
            <a:off x="762000" y="2710904"/>
            <a:ext cx="9501187" cy="1226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Retail Sales Performance &amp; Margin Audit</a:t>
            </a:r>
            <a:endParaRPr/>
          </a:p>
        </p:txBody>
      </p:sp>
      <p:sp>
        <p:nvSpPr>
          <p:cNvPr id="162" name="Google Shape;162;p25"/>
          <p:cNvSpPr txBox="1"/>
          <p:nvPr/>
        </p:nvSpPr>
        <p:spPr>
          <a:xfrm>
            <a:off x="762000" y="4128045"/>
            <a:ext cx="7143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Lato"/>
                <a:ea typeface="Lato"/>
                <a:cs typeface="Lato"/>
                <a:sym typeface="Lato"/>
              </a:rPr>
              <a:t>Using interactive dashboards to find hidden profit leakages, review customer behaviors, and recover lost margins in Superstore sales operations.</a:t>
            </a:r>
            <a:endParaRPr/>
          </a:p>
        </p:txBody>
      </p:sp>
      <p:sp>
        <p:nvSpPr>
          <p:cNvPr id="163" name="Google Shape;163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83643"/>
            <a:ext cx="5381625" cy="26717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483643"/>
            <a:ext cx="5381625" cy="267176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6"/>
          <p:cNvSpPr txBox="1"/>
          <p:nvPr/>
        </p:nvSpPr>
        <p:spPr>
          <a:xfrm>
            <a:off x="904875" y="2769393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About the Dataset</a:t>
            </a:r>
            <a:endParaRPr/>
          </a:p>
        </p:txBody>
      </p:sp>
      <p:sp>
        <p:nvSpPr>
          <p:cNvPr id="172" name="Google Shape;172;p26"/>
          <p:cNvSpPr txBox="1"/>
          <p:nvPr/>
        </p:nvSpPr>
        <p:spPr>
          <a:xfrm>
            <a:off x="904875" y="3226593"/>
            <a:ext cx="47625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 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analyzed the Superstore Sales dataset to evaluate how the business is running. </a:t>
            </a:r>
            <a:r>
              <a:rPr lang="en-US" sz="1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My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work focused on looking closely at:</a:t>
            </a:r>
            <a:endParaRPr/>
          </a:p>
        </p:txBody>
      </p:sp>
      <p:sp>
        <p:nvSpPr>
          <p:cNvPr id="173" name="Google Shape;173;p26"/>
          <p:cNvSpPr txBox="1"/>
          <p:nvPr/>
        </p:nvSpPr>
        <p:spPr>
          <a:xfrm>
            <a:off x="6572250" y="2769393"/>
            <a:ext cx="50006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Our Core Goals</a:t>
            </a:r>
            <a:endParaRPr/>
          </a:p>
        </p:txBody>
      </p:sp>
      <p:sp>
        <p:nvSpPr>
          <p:cNvPr id="174" name="Google Shape;174;p26"/>
          <p:cNvSpPr txBox="1"/>
          <p:nvPr/>
        </p:nvSpPr>
        <p:spPr>
          <a:xfrm>
            <a:off x="6572250" y="3226593"/>
            <a:ext cx="47625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Instead of just looking at total sales, this audit was built to solve practical business questions:</a:t>
            </a:r>
            <a:endParaRPr/>
          </a:p>
        </p:txBody>
      </p:sp>
      <p:sp>
        <p:nvSpPr>
          <p:cNvPr id="175" name="Google Shape;175;p26"/>
          <p:cNvSpPr txBox="1"/>
          <p:nvPr/>
        </p:nvSpPr>
        <p:spPr>
          <a:xfrm>
            <a:off x="1095375" y="3855243"/>
            <a:ext cx="45720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Transaction volumes and regional performance</a:t>
            </a:r>
            <a:endParaRPr/>
          </a:p>
        </p:txBody>
      </p:sp>
      <p:sp>
        <p:nvSpPr>
          <p:cNvPr id="176" name="Google Shape;176;p26"/>
          <p:cNvSpPr txBox="1"/>
          <p:nvPr/>
        </p:nvSpPr>
        <p:spPr>
          <a:xfrm>
            <a:off x="1095375" y="4193381"/>
            <a:ext cx="45720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Which customer segments buy the most</a:t>
            </a:r>
            <a:endParaRPr/>
          </a:p>
        </p:txBody>
      </p:sp>
      <p:sp>
        <p:nvSpPr>
          <p:cNvPr id="177" name="Google Shape;177;p26"/>
          <p:cNvSpPr txBox="1"/>
          <p:nvPr/>
        </p:nvSpPr>
        <p:spPr>
          <a:xfrm>
            <a:off x="1095375" y="4531518"/>
            <a:ext cx="45720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Why some high-sales areas are losing money</a:t>
            </a:r>
            <a:endParaRPr/>
          </a:p>
        </p:txBody>
      </p:sp>
      <p:sp>
        <p:nvSpPr>
          <p:cNvPr id="178" name="Google Shape;178;p26"/>
          <p:cNvSpPr txBox="1"/>
          <p:nvPr/>
        </p:nvSpPr>
        <p:spPr>
          <a:xfrm>
            <a:off x="6762750" y="3855243"/>
            <a:ext cx="45720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Find out which products are losing money</a:t>
            </a:r>
            <a:endParaRPr/>
          </a:p>
        </p:txBody>
      </p:sp>
      <p:sp>
        <p:nvSpPr>
          <p:cNvPr id="179" name="Google Shape;179;p26"/>
          <p:cNvSpPr txBox="1"/>
          <p:nvPr/>
        </p:nvSpPr>
        <p:spPr>
          <a:xfrm>
            <a:off x="6762750" y="4193381"/>
            <a:ext cx="45720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Understand the true cost of giving discounts</a:t>
            </a:r>
            <a:endParaRPr/>
          </a:p>
        </p:txBody>
      </p:sp>
      <p:sp>
        <p:nvSpPr>
          <p:cNvPr id="180" name="Google Shape;180;p26"/>
          <p:cNvSpPr txBox="1"/>
          <p:nvPr/>
        </p:nvSpPr>
        <p:spPr>
          <a:xfrm>
            <a:off x="6762750" y="4531518"/>
            <a:ext cx="45720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Recommend easy actions to raise profits</a:t>
            </a:r>
            <a:endParaRPr/>
          </a:p>
        </p:txBody>
      </p:sp>
      <p:sp>
        <p:nvSpPr>
          <p:cNvPr id="181" name="Google Shape;181;p26"/>
          <p:cNvSpPr txBox="1"/>
          <p:nvPr/>
        </p:nvSpPr>
        <p:spPr>
          <a:xfrm>
            <a:off x="904875" y="3855243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0873C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182" name="Google Shape;182;p26"/>
          <p:cNvSpPr txBox="1"/>
          <p:nvPr/>
        </p:nvSpPr>
        <p:spPr>
          <a:xfrm>
            <a:off x="904875" y="4193381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0873C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183" name="Google Shape;183;p26"/>
          <p:cNvSpPr txBox="1"/>
          <p:nvPr/>
        </p:nvSpPr>
        <p:spPr>
          <a:xfrm>
            <a:off x="904875" y="4531518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0873C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184" name="Google Shape;184;p26"/>
          <p:cNvSpPr txBox="1"/>
          <p:nvPr/>
        </p:nvSpPr>
        <p:spPr>
          <a:xfrm>
            <a:off x="6572250" y="3855243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0873C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185" name="Google Shape;185;p26"/>
          <p:cNvSpPr txBox="1"/>
          <p:nvPr/>
        </p:nvSpPr>
        <p:spPr>
          <a:xfrm>
            <a:off x="6572250" y="4193381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0873C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186" name="Google Shape;186;p26"/>
          <p:cNvSpPr txBox="1"/>
          <p:nvPr/>
        </p:nvSpPr>
        <p:spPr>
          <a:xfrm>
            <a:off x="6572250" y="4531518"/>
            <a:ext cx="571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0873C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187" name="Google Shape;187;p26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22"/>
                </a:solidFill>
                <a:latin typeface="Poppins"/>
                <a:ea typeface="Poppins"/>
                <a:cs typeface="Poppins"/>
                <a:sym typeface="Poppins"/>
              </a:rPr>
              <a:t>Project Overview &amp; Objectives</a:t>
            </a:r>
            <a:endParaRPr/>
          </a:p>
        </p:txBody>
      </p:sp>
      <p:sp>
        <p:nvSpPr>
          <p:cNvPr id="188" name="Google Shape;188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6968"/>
            <a:ext cx="4000500" cy="2805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3000" y="2416968"/>
            <a:ext cx="6667500" cy="280511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7"/>
          <p:cNvSpPr txBox="1"/>
          <p:nvPr/>
        </p:nvSpPr>
        <p:spPr>
          <a:xfrm>
            <a:off x="1419225" y="3262312"/>
            <a:ext cx="23050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$2.3M</a:t>
            </a:r>
            <a:endParaRPr/>
          </a:p>
        </p:txBody>
      </p:sp>
      <p:sp>
        <p:nvSpPr>
          <p:cNvPr id="197" name="Google Shape;197;p27"/>
          <p:cNvSpPr txBox="1"/>
          <p:nvPr/>
        </p:nvSpPr>
        <p:spPr>
          <a:xfrm>
            <a:off x="1869281" y="4119562"/>
            <a:ext cx="140493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7F3D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TOTAL REVENUE</a:t>
            </a:r>
            <a:endParaRPr/>
          </a:p>
        </p:txBody>
      </p:sp>
      <p:sp>
        <p:nvSpPr>
          <p:cNvPr id="198" name="Google Shape;198;p27"/>
          <p:cNvSpPr txBox="1"/>
          <p:nvPr/>
        </p:nvSpPr>
        <p:spPr>
          <a:xfrm>
            <a:off x="5334000" y="2797968"/>
            <a:ext cx="62007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Overall Business Health</a:t>
            </a:r>
            <a:endParaRPr/>
          </a:p>
        </p:txBody>
      </p:sp>
      <p:sp>
        <p:nvSpPr>
          <p:cNvPr id="199" name="Google Shape;199;p27"/>
          <p:cNvSpPr txBox="1"/>
          <p:nvPr/>
        </p:nvSpPr>
        <p:spPr>
          <a:xfrm>
            <a:off x="5334000" y="3321843"/>
            <a:ext cx="59055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business shows solid overall performance with stable transaction growth. However, </a:t>
            </a:r>
            <a:r>
              <a:rPr lang="en-US" sz="1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main finding is that high top-line sales do not always mean healthy net profits.</a:t>
            </a:r>
            <a:endParaRPr/>
          </a:p>
        </p:txBody>
      </p:sp>
      <p:sp>
        <p:nvSpPr>
          <p:cNvPr id="200" name="Google Shape;200;p27"/>
          <p:cNvSpPr txBox="1"/>
          <p:nvPr/>
        </p:nvSpPr>
        <p:spPr>
          <a:xfrm>
            <a:off x="5505450" y="4288631"/>
            <a:ext cx="1753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TOTAL ORDERS</a:t>
            </a:r>
            <a:endParaRPr/>
          </a:p>
        </p:txBody>
      </p:sp>
      <p:sp>
        <p:nvSpPr>
          <p:cNvPr id="201" name="Google Shape;201;p27"/>
          <p:cNvSpPr txBox="1"/>
          <p:nvPr/>
        </p:nvSpPr>
        <p:spPr>
          <a:xfrm>
            <a:off x="5505450" y="4498181"/>
            <a:ext cx="167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10K</a:t>
            </a:r>
            <a:endParaRPr/>
          </a:p>
        </p:txBody>
      </p:sp>
      <p:sp>
        <p:nvSpPr>
          <p:cNvPr id="202" name="Google Shape;202;p27"/>
          <p:cNvSpPr txBox="1"/>
          <p:nvPr/>
        </p:nvSpPr>
        <p:spPr>
          <a:xfrm>
            <a:off x="7537400" y="4288631"/>
            <a:ext cx="1753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TOTAL PROFIT</a:t>
            </a:r>
            <a:endParaRPr/>
          </a:p>
        </p:txBody>
      </p:sp>
      <p:sp>
        <p:nvSpPr>
          <p:cNvPr id="203" name="Google Shape;203;p27"/>
          <p:cNvSpPr txBox="1"/>
          <p:nvPr/>
        </p:nvSpPr>
        <p:spPr>
          <a:xfrm>
            <a:off x="7537400" y="4498181"/>
            <a:ext cx="167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$286.4K</a:t>
            </a:r>
            <a:endParaRPr/>
          </a:p>
        </p:txBody>
      </p:sp>
      <p:sp>
        <p:nvSpPr>
          <p:cNvPr id="204" name="Google Shape;204;p27"/>
          <p:cNvSpPr txBox="1"/>
          <p:nvPr/>
        </p:nvSpPr>
        <p:spPr>
          <a:xfrm>
            <a:off x="9569350" y="4288631"/>
            <a:ext cx="1753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AVG MARGIN</a:t>
            </a:r>
            <a:endParaRPr/>
          </a:p>
        </p:txBody>
      </p:sp>
      <p:sp>
        <p:nvSpPr>
          <p:cNvPr id="205" name="Google Shape;205;p27"/>
          <p:cNvSpPr txBox="1"/>
          <p:nvPr/>
        </p:nvSpPr>
        <p:spPr>
          <a:xfrm>
            <a:off x="9569350" y="4498181"/>
            <a:ext cx="167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12.47%</a:t>
            </a:r>
            <a:endParaRPr/>
          </a:p>
        </p:txBody>
      </p:sp>
      <p:sp>
        <p:nvSpPr>
          <p:cNvPr id="206" name="Google Shape;206;p27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22"/>
                </a:solidFill>
                <a:latin typeface="Poppins"/>
                <a:ea typeface="Poppins"/>
                <a:cs typeface="Poppins"/>
                <a:sym typeface="Poppins"/>
              </a:rPr>
              <a:t>Core Performance Metrics</a:t>
            </a:r>
            <a:endParaRPr/>
          </a:p>
        </p:txBody>
      </p:sp>
      <p:sp>
        <p:nvSpPr>
          <p:cNvPr id="207" name="Google Shape;207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4000" y="2009775"/>
            <a:ext cx="6756499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8"/>
          <p:cNvSpPr txBox="1"/>
          <p:nvPr/>
        </p:nvSpPr>
        <p:spPr>
          <a:xfrm>
            <a:off x="571500" y="2274093"/>
            <a:ext cx="41070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Regional Performance Gaps</a:t>
            </a:r>
            <a:endParaRPr/>
          </a:p>
        </p:txBody>
      </p:sp>
      <p:sp>
        <p:nvSpPr>
          <p:cNvPr id="215" name="Google Shape;215;p28"/>
          <p:cNvSpPr txBox="1"/>
          <p:nvPr/>
        </p:nvSpPr>
        <p:spPr>
          <a:xfrm>
            <a:off x="571500" y="2750343"/>
            <a:ext cx="39114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main dashboard reveals that profit is not distributed evenly across different regions.</a:t>
            </a:r>
            <a:endParaRPr/>
          </a:p>
        </p:txBody>
      </p:sp>
      <p:sp>
        <p:nvSpPr>
          <p:cNvPr id="216" name="Google Shape;216;p28"/>
          <p:cNvSpPr txBox="1"/>
          <p:nvPr/>
        </p:nvSpPr>
        <p:spPr>
          <a:xfrm>
            <a:off x="571500" y="3378993"/>
            <a:ext cx="39115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Key Highlights:</a:t>
            </a:r>
            <a:endParaRPr/>
          </a:p>
        </p:txBody>
      </p:sp>
      <p:pic>
        <p:nvPicPr>
          <p:cNvPr id="217" name="Google Shape;217;p28" title="Screenshot 2026-06-28 200952.png"/>
          <p:cNvPicPr preferRelativeResize="0"/>
          <p:nvPr/>
        </p:nvPicPr>
        <p:blipFill rotWithShape="1">
          <a:blip r:embed="rId5">
            <a:alphaModFix/>
          </a:blip>
          <a:srcRect b="2714" l="0" r="0" t="2714"/>
          <a:stretch/>
        </p:blipFill>
        <p:spPr>
          <a:xfrm>
            <a:off x="4883050" y="2028825"/>
            <a:ext cx="6718399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8"/>
          <p:cNvSpPr txBox="1"/>
          <p:nvPr/>
        </p:nvSpPr>
        <p:spPr>
          <a:xfrm>
            <a:off x="666750" y="376237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9" name="Google Shape;219;p28"/>
          <p:cNvSpPr txBox="1"/>
          <p:nvPr/>
        </p:nvSpPr>
        <p:spPr>
          <a:xfrm>
            <a:off x="762000" y="3764756"/>
            <a:ext cx="3720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West Region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is </a:t>
            </a:r>
            <a:r>
              <a:rPr lang="en-US" sz="1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most profitable market, generating 37.86% of total profits.</a:t>
            </a:r>
            <a:endParaRPr/>
          </a:p>
        </p:txBody>
      </p:sp>
      <p:sp>
        <p:nvSpPr>
          <p:cNvPr id="220" name="Google Shape;220;p28"/>
          <p:cNvSpPr txBox="1"/>
          <p:nvPr/>
        </p:nvSpPr>
        <p:spPr>
          <a:xfrm>
            <a:off x="666750" y="424815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1" name="Google Shape;221;p28"/>
          <p:cNvSpPr txBox="1"/>
          <p:nvPr/>
        </p:nvSpPr>
        <p:spPr>
          <a:xfrm>
            <a:off x="762000" y="4250531"/>
            <a:ext cx="37210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Central Region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is underperforming, bringing in only 13.86% of our profits.</a:t>
            </a:r>
            <a:endParaRPr/>
          </a:p>
        </p:txBody>
      </p:sp>
      <p:sp>
        <p:nvSpPr>
          <p:cNvPr id="222" name="Google Shape;222;p28"/>
          <p:cNvSpPr txBox="1"/>
          <p:nvPr/>
        </p:nvSpPr>
        <p:spPr>
          <a:xfrm>
            <a:off x="666750" y="473392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23" name="Google Shape;223;p28"/>
          <p:cNvSpPr txBox="1"/>
          <p:nvPr/>
        </p:nvSpPr>
        <p:spPr>
          <a:xfrm>
            <a:off x="762000" y="4736306"/>
            <a:ext cx="37210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Copiers and Phones are highly profitable, while Tables and Bookcases are actively losing money.</a:t>
            </a:r>
            <a:endParaRPr/>
          </a:p>
        </p:txBody>
      </p:sp>
      <p:sp>
        <p:nvSpPr>
          <p:cNvPr id="224" name="Google Shape;224;p28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22"/>
                </a:solidFill>
                <a:latin typeface="Poppins"/>
                <a:ea typeface="Poppins"/>
                <a:cs typeface="Poppins"/>
                <a:sym typeface="Poppins"/>
              </a:rPr>
              <a:t>Executive Sales &amp; Profit Performance</a:t>
            </a:r>
            <a:endParaRPr/>
          </a:p>
        </p:txBody>
      </p:sp>
      <p:sp>
        <p:nvSpPr>
          <p:cNvPr id="225" name="Google Shape;225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4000" y="2009775"/>
            <a:ext cx="6756499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9"/>
          <p:cNvSpPr txBox="1"/>
          <p:nvPr/>
        </p:nvSpPr>
        <p:spPr>
          <a:xfrm>
            <a:off x="571500" y="2152650"/>
            <a:ext cx="41070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High-Volume Buyers</a:t>
            </a:r>
            <a:endParaRPr/>
          </a:p>
        </p:txBody>
      </p:sp>
      <p:sp>
        <p:nvSpPr>
          <p:cNvPr id="233" name="Google Shape;233;p29"/>
          <p:cNvSpPr txBox="1"/>
          <p:nvPr/>
        </p:nvSpPr>
        <p:spPr>
          <a:xfrm>
            <a:off x="571500" y="2628900"/>
            <a:ext cx="39114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Understanding who buys our products helps  make better sales and marketing decisions.</a:t>
            </a:r>
            <a:endParaRPr/>
          </a:p>
        </p:txBody>
      </p:sp>
      <p:sp>
        <p:nvSpPr>
          <p:cNvPr id="234" name="Google Shape;234;p29"/>
          <p:cNvSpPr txBox="1"/>
          <p:nvPr/>
        </p:nvSpPr>
        <p:spPr>
          <a:xfrm>
            <a:off x="571500" y="3257550"/>
            <a:ext cx="39115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Key Highlights:</a:t>
            </a:r>
            <a:endParaRPr/>
          </a:p>
        </p:txBody>
      </p:sp>
      <p:pic>
        <p:nvPicPr>
          <p:cNvPr id="235" name="Google Shape;235;p29" title="Screenshot 2026-06-28 180505.png"/>
          <p:cNvPicPr preferRelativeResize="0"/>
          <p:nvPr/>
        </p:nvPicPr>
        <p:blipFill rotWithShape="1">
          <a:blip r:embed="rId5">
            <a:alphaModFix/>
          </a:blip>
          <a:srcRect b="2544" l="0" r="0" t="2544"/>
          <a:stretch/>
        </p:blipFill>
        <p:spPr>
          <a:xfrm>
            <a:off x="4883050" y="2028825"/>
            <a:ext cx="6718399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9"/>
          <p:cNvSpPr txBox="1"/>
          <p:nvPr/>
        </p:nvSpPr>
        <p:spPr>
          <a:xfrm>
            <a:off x="666750" y="3640931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7" name="Google Shape;237;p29"/>
          <p:cNvSpPr txBox="1"/>
          <p:nvPr/>
        </p:nvSpPr>
        <p:spPr>
          <a:xfrm>
            <a:off x="762000" y="3643312"/>
            <a:ext cx="3720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Consumer Segment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is </a:t>
            </a:r>
            <a:r>
              <a:rPr lang="en-US" sz="1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largest market, contributing 50.56% of total revenue.</a:t>
            </a:r>
            <a:endParaRPr/>
          </a:p>
        </p:txBody>
      </p:sp>
      <p:sp>
        <p:nvSpPr>
          <p:cNvPr id="238" name="Google Shape;238;p29"/>
          <p:cNvSpPr txBox="1"/>
          <p:nvPr/>
        </p:nvSpPr>
        <p:spPr>
          <a:xfrm>
            <a:off x="666750" y="4126706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39" name="Google Shape;239;p29"/>
          <p:cNvSpPr txBox="1"/>
          <p:nvPr/>
        </p:nvSpPr>
        <p:spPr>
          <a:xfrm>
            <a:off x="762000" y="4129087"/>
            <a:ext cx="3720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There are 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793 active customers who place an average of 12.60 orders.</a:t>
            </a:r>
            <a:endParaRPr/>
          </a:p>
        </p:txBody>
      </p:sp>
      <p:sp>
        <p:nvSpPr>
          <p:cNvPr id="240" name="Google Shape;240;p29"/>
          <p:cNvSpPr txBox="1"/>
          <p:nvPr/>
        </p:nvSpPr>
        <p:spPr>
          <a:xfrm>
            <a:off x="666750" y="4612481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41" name="Google Shape;241;p29"/>
          <p:cNvSpPr txBox="1"/>
          <p:nvPr/>
        </p:nvSpPr>
        <p:spPr>
          <a:xfrm>
            <a:off x="762000" y="4614862"/>
            <a:ext cx="372100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Margin Warning: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Some top revenue buyers, like Sean Miller, are unprofitable (-7.91% margin) due to aggressive pricing discounts.</a:t>
            </a:r>
            <a:endParaRPr/>
          </a:p>
        </p:txBody>
      </p:sp>
      <p:sp>
        <p:nvSpPr>
          <p:cNvPr id="242" name="Google Shape;242;p29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22"/>
                </a:solidFill>
                <a:latin typeface="Poppins"/>
                <a:ea typeface="Poppins"/>
                <a:cs typeface="Poppins"/>
                <a:sym typeface="Poppins"/>
              </a:rPr>
              <a:t>Customer Segment &amp; Behavior Analysis</a:t>
            </a:r>
            <a:endParaRPr/>
          </a:p>
        </p:txBody>
      </p:sp>
      <p:sp>
        <p:nvSpPr>
          <p:cNvPr id="243" name="Google Shape;243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4000" y="2009775"/>
            <a:ext cx="6756499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0"/>
          <p:cNvSpPr txBox="1"/>
          <p:nvPr/>
        </p:nvSpPr>
        <p:spPr>
          <a:xfrm>
            <a:off x="571500" y="2274093"/>
            <a:ext cx="41070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50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Cost of Too Many Discounts</a:t>
            </a:r>
            <a:endParaRPr/>
          </a:p>
        </p:txBody>
      </p:sp>
      <p:sp>
        <p:nvSpPr>
          <p:cNvPr id="251" name="Google Shape;251;p30"/>
          <p:cNvSpPr txBox="1"/>
          <p:nvPr/>
        </p:nvSpPr>
        <p:spPr>
          <a:xfrm>
            <a:off x="571500" y="2750343"/>
            <a:ext cx="39114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is the most critical part of </a:t>
            </a:r>
            <a:r>
              <a:rPr lang="en-US" sz="1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audit. Excessive discounts are damaging  profits.</a:t>
            </a:r>
            <a:endParaRPr/>
          </a:p>
        </p:txBody>
      </p:sp>
      <p:sp>
        <p:nvSpPr>
          <p:cNvPr id="252" name="Google Shape;252;p30"/>
          <p:cNvSpPr txBox="1"/>
          <p:nvPr/>
        </p:nvSpPr>
        <p:spPr>
          <a:xfrm>
            <a:off x="571500" y="3378993"/>
            <a:ext cx="39115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Key Highlights:</a:t>
            </a:r>
            <a:endParaRPr/>
          </a:p>
        </p:txBody>
      </p:sp>
      <p:pic>
        <p:nvPicPr>
          <p:cNvPr id="253" name="Google Shape;253;p30" title="Screenshot 2026-06-28 180604.png"/>
          <p:cNvPicPr preferRelativeResize="0"/>
          <p:nvPr/>
        </p:nvPicPr>
        <p:blipFill rotWithShape="1">
          <a:blip r:embed="rId5">
            <a:alphaModFix/>
          </a:blip>
          <a:srcRect b="2598" l="0" r="0" t="2598"/>
          <a:stretch/>
        </p:blipFill>
        <p:spPr>
          <a:xfrm>
            <a:off x="4883050" y="2028825"/>
            <a:ext cx="6718399" cy="358139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0"/>
          <p:cNvSpPr txBox="1"/>
          <p:nvPr/>
        </p:nvSpPr>
        <p:spPr>
          <a:xfrm>
            <a:off x="666750" y="376237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5" name="Google Shape;255;p30"/>
          <p:cNvSpPr txBox="1"/>
          <p:nvPr/>
        </p:nvSpPr>
        <p:spPr>
          <a:xfrm>
            <a:off x="762000" y="3764756"/>
            <a:ext cx="3720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average company-wide discount is </a:t>
            </a: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15.62%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which has caused </a:t>
            </a: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$155.77K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 losses.</a:t>
            </a:r>
            <a:endParaRPr/>
          </a:p>
        </p:txBody>
      </p:sp>
      <p:sp>
        <p:nvSpPr>
          <p:cNvPr id="256" name="Google Shape;256;p30"/>
          <p:cNvSpPr txBox="1"/>
          <p:nvPr/>
        </p:nvSpPr>
        <p:spPr>
          <a:xfrm>
            <a:off x="666750" y="4248150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7" name="Google Shape;257;p30"/>
          <p:cNvSpPr txBox="1"/>
          <p:nvPr/>
        </p:nvSpPr>
        <p:spPr>
          <a:xfrm>
            <a:off x="762000" y="4250531"/>
            <a:ext cx="37210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Central Region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has the highest average discount rate and the lowest profit margins.</a:t>
            </a:r>
            <a:endParaRPr/>
          </a:p>
        </p:txBody>
      </p:sp>
      <p:sp>
        <p:nvSpPr>
          <p:cNvPr id="258" name="Google Shape;258;p30"/>
          <p:cNvSpPr txBox="1"/>
          <p:nvPr/>
        </p:nvSpPr>
        <p:spPr>
          <a:xfrm>
            <a:off x="666750" y="4733925"/>
            <a:ext cx="95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9" name="Google Shape;259;p30"/>
          <p:cNvSpPr txBox="1"/>
          <p:nvPr/>
        </p:nvSpPr>
        <p:spPr>
          <a:xfrm>
            <a:off x="762000" y="4736306"/>
            <a:ext cx="37209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Tables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are </a:t>
            </a:r>
            <a:r>
              <a:rPr lang="en-US" sz="1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biggest loss-maker, losing </a:t>
            </a: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$17,725.50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due to an excessive 26.13% average discount.</a:t>
            </a:r>
            <a:endParaRPr/>
          </a:p>
        </p:txBody>
      </p:sp>
      <p:sp>
        <p:nvSpPr>
          <p:cNvPr id="260" name="Google Shape;260;p30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22"/>
                </a:solidFill>
                <a:latin typeface="Poppins"/>
                <a:ea typeface="Poppins"/>
                <a:cs typeface="Poppins"/>
                <a:sym typeface="Poppins"/>
              </a:rPr>
              <a:t>Discount Impact &amp; Margin Leakage</a:t>
            </a:r>
            <a:endParaRPr/>
          </a:p>
        </p:txBody>
      </p:sp>
      <p:sp>
        <p:nvSpPr>
          <p:cNvPr id="261" name="Google Shape;261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4118"/>
            <a:ext cx="3530500" cy="2690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600" y="2474118"/>
            <a:ext cx="3530649" cy="2690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9850" y="2474118"/>
            <a:ext cx="3530500" cy="26908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3375" y="2807493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1"/>
          <p:cNvSpPr txBox="1"/>
          <p:nvPr/>
        </p:nvSpPr>
        <p:spPr>
          <a:xfrm>
            <a:off x="733268" y="3664743"/>
            <a:ext cx="320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Optimize Discount</a:t>
            </a:r>
            <a:r>
              <a:rPr lang="en-US" sz="1500">
                <a:solidFill>
                  <a:srgbClr val="0050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</a:t>
            </a:r>
            <a:endParaRPr/>
          </a:p>
        </p:txBody>
      </p:sp>
      <p:sp>
        <p:nvSpPr>
          <p:cNvPr id="272" name="Google Shape;272;p31"/>
          <p:cNvSpPr txBox="1"/>
          <p:nvPr/>
        </p:nvSpPr>
        <p:spPr>
          <a:xfrm>
            <a:off x="809625" y="4064793"/>
            <a:ext cx="305425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Set a strict maximum discount cap of 15% on high-loss products (especially Tables and Bookcases) to protect our profit margins.</a:t>
            </a:r>
            <a:endParaRPr/>
          </a:p>
        </p:txBody>
      </p:sp>
      <p:pic>
        <p:nvPicPr>
          <p:cNvPr descr="image.png" id="273" name="Google Shape;273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62476" y="2807493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1"/>
          <p:cNvSpPr txBox="1"/>
          <p:nvPr/>
        </p:nvSpPr>
        <p:spPr>
          <a:xfrm>
            <a:off x="4492365" y="3664743"/>
            <a:ext cx="320711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Product Bundling</a:t>
            </a:r>
            <a:endParaRPr/>
          </a:p>
        </p:txBody>
      </p:sp>
      <p:sp>
        <p:nvSpPr>
          <p:cNvPr id="275" name="Google Shape;275;p31"/>
          <p:cNvSpPr txBox="1"/>
          <p:nvPr/>
        </p:nvSpPr>
        <p:spPr>
          <a:xfrm>
            <a:off x="4568725" y="4064793"/>
            <a:ext cx="3054399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Avoid selling low-margin furniture items by themselves. Instead, bundle them with highly profitable accessories or copiers.</a:t>
            </a:r>
            <a:endParaRPr/>
          </a:p>
        </p:txBody>
      </p:sp>
      <p:pic>
        <p:nvPicPr>
          <p:cNvPr descr="image.png" id="276" name="Google Shape;276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1725" y="2807493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1"/>
          <p:cNvSpPr txBox="1"/>
          <p:nvPr/>
        </p:nvSpPr>
        <p:spPr>
          <a:xfrm>
            <a:off x="8251619" y="3664743"/>
            <a:ext cx="320696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Fix Unprofitable Accounts</a:t>
            </a:r>
            <a:endParaRPr/>
          </a:p>
        </p:txBody>
      </p:sp>
      <p:sp>
        <p:nvSpPr>
          <p:cNvPr id="278" name="Google Shape;278;p31"/>
          <p:cNvSpPr txBox="1"/>
          <p:nvPr/>
        </p:nvSpPr>
        <p:spPr>
          <a:xfrm>
            <a:off x="8327975" y="4064793"/>
            <a:ext cx="3054250" cy="728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Review agreements with high-volume, low-profit customers (like Sean Miller) to swap flat discounts for value-based perks.</a:t>
            </a:r>
            <a:endParaRPr/>
          </a:p>
        </p:txBody>
      </p:sp>
      <p:pic>
        <p:nvPicPr>
          <p:cNvPr descr="image.png" id="279" name="Google Shape;279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22450" y="2988468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05351" y="2988468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3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64600" y="2988468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1"/>
          <p:cNvSpPr txBox="1"/>
          <p:nvPr/>
        </p:nvSpPr>
        <p:spPr>
          <a:xfrm>
            <a:off x="571500" y="476250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22"/>
                </a:solidFill>
                <a:latin typeface="Poppins"/>
                <a:ea typeface="Poppins"/>
                <a:cs typeface="Poppins"/>
                <a:sym typeface="Poppins"/>
              </a:rPr>
              <a:t>Strategic Business Recommendations</a:t>
            </a:r>
            <a:endParaRPr/>
          </a:p>
        </p:txBody>
      </p:sp>
      <p:sp>
        <p:nvSpPr>
          <p:cNvPr id="283" name="Google Shape;283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31268"/>
            <a:ext cx="5381625" cy="25765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531268"/>
            <a:ext cx="5381625" cy="2576512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2"/>
          <p:cNvSpPr txBox="1"/>
          <p:nvPr/>
        </p:nvSpPr>
        <p:spPr>
          <a:xfrm>
            <a:off x="904875" y="2817018"/>
            <a:ext cx="500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What We Learned</a:t>
            </a:r>
            <a:endParaRPr/>
          </a:p>
        </p:txBody>
      </p:sp>
      <p:sp>
        <p:nvSpPr>
          <p:cNvPr id="292" name="Google Shape;292;p32"/>
          <p:cNvSpPr txBox="1"/>
          <p:nvPr/>
        </p:nvSpPr>
        <p:spPr>
          <a:xfrm>
            <a:off x="881063" y="3138043"/>
            <a:ext cx="47625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audit proves that </a:t>
            </a: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 sales numbers do not always equal high profits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The Superstore has massive market demand, but profits are heavily leaking due to unmonitored discount practices.</a:t>
            </a:r>
            <a:endParaRPr/>
          </a:p>
        </p:txBody>
      </p:sp>
      <p:sp>
        <p:nvSpPr>
          <p:cNvPr id="293" name="Google Shape;293;p32"/>
          <p:cNvSpPr txBox="1"/>
          <p:nvPr/>
        </p:nvSpPr>
        <p:spPr>
          <a:xfrm>
            <a:off x="6572250" y="2817018"/>
            <a:ext cx="50007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50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Path Forward</a:t>
            </a:r>
            <a:endParaRPr/>
          </a:p>
        </p:txBody>
      </p:sp>
      <p:sp>
        <p:nvSpPr>
          <p:cNvPr id="294" name="Google Shape;294;p32"/>
          <p:cNvSpPr txBox="1"/>
          <p:nvPr/>
        </p:nvSpPr>
        <p:spPr>
          <a:xfrm>
            <a:off x="6572250" y="3274218"/>
            <a:ext cx="47625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By implementing </a:t>
            </a:r>
            <a:r>
              <a:rPr lang="en-US" sz="127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recommended discount caps and focusing sales efforts on high-margin products like Copiers and Phones, the store can recover up to </a:t>
            </a: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$155K in lost revenue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95" name="Google Shape;295;p32"/>
          <p:cNvSpPr txBox="1"/>
          <p:nvPr/>
        </p:nvSpPr>
        <p:spPr>
          <a:xfrm>
            <a:off x="1119225" y="3989781"/>
            <a:ext cx="45720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Live dashboards can instantly highlight where money is being lost.</a:t>
            </a:r>
            <a:endParaRPr/>
          </a:p>
        </p:txBody>
      </p:sp>
      <p:sp>
        <p:nvSpPr>
          <p:cNvPr id="296" name="Google Shape;296;p32"/>
          <p:cNvSpPr txBox="1"/>
          <p:nvPr/>
        </p:nvSpPr>
        <p:spPr>
          <a:xfrm>
            <a:off x="1119225" y="4617268"/>
            <a:ext cx="45720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Data-driven decisions prevent expensive gut-feeling sales pricing.</a:t>
            </a:r>
            <a:endParaRPr/>
          </a:p>
        </p:txBody>
      </p:sp>
      <p:sp>
        <p:nvSpPr>
          <p:cNvPr id="297" name="Google Shape;297;p32"/>
          <p:cNvSpPr txBox="1"/>
          <p:nvPr/>
        </p:nvSpPr>
        <p:spPr>
          <a:xfrm>
            <a:off x="6762750" y="4145756"/>
            <a:ext cx="4572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Keep monitoring the interactive regional dashboards.</a:t>
            </a:r>
            <a:endParaRPr/>
          </a:p>
        </p:txBody>
      </p:sp>
      <p:sp>
        <p:nvSpPr>
          <p:cNvPr id="298" name="Google Shape;298;p32"/>
          <p:cNvSpPr txBox="1"/>
          <p:nvPr/>
        </p:nvSpPr>
        <p:spPr>
          <a:xfrm>
            <a:off x="6762750" y="4483893"/>
            <a:ext cx="4572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Review customer behavior trends on a quarterly basis.</a:t>
            </a:r>
            <a:endParaRPr/>
          </a:p>
        </p:txBody>
      </p:sp>
      <p:sp>
        <p:nvSpPr>
          <p:cNvPr id="299" name="Google Shape;299;p32"/>
          <p:cNvSpPr txBox="1"/>
          <p:nvPr/>
        </p:nvSpPr>
        <p:spPr>
          <a:xfrm>
            <a:off x="904875" y="3922856"/>
            <a:ext cx="57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0873C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300" name="Google Shape;300;p32"/>
          <p:cNvSpPr txBox="1"/>
          <p:nvPr/>
        </p:nvSpPr>
        <p:spPr>
          <a:xfrm>
            <a:off x="904875" y="4483893"/>
            <a:ext cx="57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0873C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301" name="Google Shape;301;p32"/>
          <p:cNvSpPr txBox="1"/>
          <p:nvPr/>
        </p:nvSpPr>
        <p:spPr>
          <a:xfrm>
            <a:off x="6572250" y="4145756"/>
            <a:ext cx="57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0873C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302" name="Google Shape;302;p32"/>
          <p:cNvSpPr txBox="1"/>
          <p:nvPr/>
        </p:nvSpPr>
        <p:spPr>
          <a:xfrm>
            <a:off x="6572250" y="4483893"/>
            <a:ext cx="57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0873C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303" name="Google Shape;303;p32"/>
          <p:cNvSpPr txBox="1"/>
          <p:nvPr/>
        </p:nvSpPr>
        <p:spPr>
          <a:xfrm>
            <a:off x="571500" y="476250"/>
            <a:ext cx="1160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5022"/>
                </a:solidFill>
                <a:latin typeface="Poppins"/>
                <a:ea typeface="Poppins"/>
                <a:cs typeface="Poppins"/>
                <a:sym typeface="Poppins"/>
              </a:rPr>
              <a:t>Project Conclusion</a:t>
            </a:r>
            <a:endParaRPr/>
          </a:p>
        </p:txBody>
      </p:sp>
      <p:sp>
        <p:nvSpPr>
          <p:cNvPr id="304" name="Google Shape;304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